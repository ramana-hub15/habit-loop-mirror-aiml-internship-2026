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Assistant" pitchFamily="2" charset="-79"/>
      <p:regular r:id="rId13"/>
      <p:bold r:id="rId14"/>
    </p:embeddedFont>
    <p:embeddedFont>
      <p:font typeface="Assistant Bold" charset="-79"/>
      <p:regular r:id="rId15"/>
    </p:embeddedFont>
    <p:embeddedFont>
      <p:font typeface="Assistant SemiBold" pitchFamily="2" charset="-79"/>
      <p:bold r:id="rId16"/>
    </p:embeddedFont>
    <p:embeddedFont>
      <p:font typeface="Rubik ExtraBold" panose="020B0604020202020204" charset="-79"/>
      <p:regular r:id="rId17"/>
    </p:embeddedFont>
    <p:embeddedFont>
      <p:font typeface="Rubik SemiBold" panose="020B0604020202020204" charset="-79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82" y="49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72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CCCC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397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397" cy="6858000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2A3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6582" y="685800"/>
            <a:ext cx="7746509" cy="6114752"/>
          </a:xfrm>
          <a:prstGeom prst="roundRect">
            <a:avLst>
              <a:gd name="adj" fmla="val 598"/>
            </a:avLst>
          </a:prstGeom>
          <a:solidFill>
            <a:srgbClr val="1B2632">
              <a:alpha val="86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142971" y="990600"/>
            <a:ext cx="809584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ssistant SemiBold" pitchFamily="34" charset="0"/>
                <a:ea typeface="Assistant SemiBold" pitchFamily="34" charset="-122"/>
                <a:cs typeface="Assistant SemiBold" pitchFamily="34" charset="-120"/>
              </a:rPr>
              <a:t>AICTE | IBM SkillsBuild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42971" y="1154013"/>
            <a:ext cx="6933828" cy="1901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7200" dirty="0">
                <a:solidFill>
                  <a:srgbClr val="FFFFFF"/>
                </a:solidFill>
                <a:latin typeface="Rubik ExtraBold" pitchFamily="34" charset="0"/>
                <a:ea typeface="Rubik ExtraBold" pitchFamily="34" charset="-122"/>
                <a:cs typeface="Rubik ExtraBold" pitchFamily="34" charset="-120"/>
              </a:rPr>
              <a:t>HABIT LOOP</a:t>
            </a:r>
            <a:endParaRPr lang="en-US" sz="7200" dirty="0"/>
          </a:p>
          <a:p>
            <a:pPr marL="0" indent="0" algn="l">
              <a:lnSpc>
                <a:spcPct val="87000"/>
              </a:lnSpc>
              <a:buNone/>
            </a:pPr>
            <a:r>
              <a:rPr lang="en-US" sz="7200" dirty="0">
                <a:solidFill>
                  <a:srgbClr val="FFFFFF"/>
                </a:solidFill>
                <a:latin typeface="Rubik ExtraBold" pitchFamily="34" charset="0"/>
                <a:ea typeface="Rubik ExtraBold" pitchFamily="34" charset="-122"/>
                <a:cs typeface="Rubik ExtraBold" pitchFamily="34" charset="-120"/>
              </a:rPr>
              <a:t>MIRROR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142971" y="3417888"/>
            <a:ext cx="7486264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“Screen Time tells you how much. We tell you why.”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42971" y="3983831"/>
            <a:ext cx="809584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Understand the patterns behind your digital habits.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42971" y="4564062"/>
            <a:ext cx="2288225" cy="38100"/>
          </a:xfrm>
          <a:prstGeom prst="roundRect">
            <a:avLst>
              <a:gd name="adj" fmla="val 49999"/>
            </a:avLst>
          </a:prstGeom>
          <a:solidFill>
            <a:srgbClr val="1B26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142971" y="4574480"/>
            <a:ext cx="8502437" cy="462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Machine Learning and Applied AI Internship 2026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142971" y="5233888"/>
            <a:ext cx="6933828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ssistant Bold" pitchFamily="34" charset="0"/>
                <a:ea typeface="Assistant Bold" pitchFamily="34" charset="-122"/>
                <a:cs typeface="Assistant Bold" pitchFamily="34" charset="-120"/>
              </a:rPr>
              <a:t>Student:</a:t>
            </a:r>
            <a:r>
              <a:rPr lang="en-US" sz="1600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 Ramanarajarajan T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ssistant Bold" pitchFamily="34" charset="0"/>
                <a:ea typeface="Assistant Bold" pitchFamily="34" charset="-122"/>
                <a:cs typeface="Assistant Bold" pitchFamily="34" charset="-120"/>
              </a:rPr>
              <a:t>Internship ID:</a:t>
            </a:r>
            <a:r>
              <a:rPr lang="en-US" sz="1600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 IBMUEML007043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ssistant Bold" pitchFamily="34" charset="0"/>
                <a:ea typeface="Assistant Bold" pitchFamily="34" charset="-122"/>
                <a:cs typeface="Assistant Bold" pitchFamily="34" charset="-120"/>
              </a:rPr>
              <a:t>College:</a:t>
            </a:r>
            <a:r>
              <a:rPr lang="en-US" sz="1600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 KPR Institute of Engineering and Technology (KPRIET), Coimbatore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ssistant Bold" pitchFamily="34" charset="0"/>
                <a:ea typeface="Assistant Bold" pitchFamily="34" charset="-122"/>
                <a:cs typeface="Assistant Bold" pitchFamily="34" charset="-120"/>
              </a:rPr>
              <a:t>Project theme:</a:t>
            </a:r>
            <a:r>
              <a:rPr lang="en-US" sz="1600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 AI-Powered Digital Habit Awareness &amp; Behavioral Self-Regulation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21109" cy="6858000"/>
          </a:xfrm>
          <a:prstGeom prst="rect">
            <a:avLst/>
          </a:prstGeom>
          <a:solidFill>
            <a:srgbClr val="2A37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09585" y="609600"/>
            <a:ext cx="766406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ssistant SemiBold" pitchFamily="34" charset="0"/>
                <a:ea typeface="Assistant SemiBold" pitchFamily="34" charset="-122"/>
                <a:cs typeface="Assistant SemiBold" pitchFamily="34" charset="-120"/>
              </a:rPr>
              <a:t>THE GAP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9585" y="801985"/>
            <a:ext cx="6444890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The Problem: screen time tells us how much, but not why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09585" y="2860278"/>
            <a:ext cx="644489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Assistant Bold" pitchFamily="34" charset="0"/>
                <a:ea typeface="Assistant Bold" pitchFamily="34" charset="-122"/>
                <a:cs typeface="Assistant Bold" pitchFamily="34" charset="-120"/>
              </a:rPr>
              <a:t>Key insight:</a:t>
            </a:r>
            <a:r>
              <a:rPr lang="en-US" sz="1700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 Measuring screen time alone does not explain the behavior behind it.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09585" y="3701157"/>
            <a:ext cx="6502039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186" indent="-345186" algn="l">
              <a:lnSpc>
                <a:spcPct val="125000"/>
              </a:lnSpc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  <a:latin typeface="Assistant Bold" pitchFamily="34" charset="0"/>
                <a:ea typeface="Assistant Bold" pitchFamily="34" charset="-122"/>
                <a:cs typeface="Assistant Bold" pitchFamily="34" charset="-120"/>
              </a:rPr>
              <a:t>What tools show:</a:t>
            </a:r>
            <a:r>
              <a:rPr lang="en-US" sz="1800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 Traditional tools show total screen time, app duration, and session counts.</a:t>
            </a:r>
            <a:endParaRPr lang="en-US" sz="1800" dirty="0"/>
          </a:p>
          <a:p>
            <a:pPr marL="345186" indent="-345186" algn="l">
              <a:lnSpc>
                <a:spcPct val="125000"/>
              </a:lnSpc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  <a:latin typeface="Assistant Bold" pitchFamily="34" charset="0"/>
                <a:ea typeface="Assistant Bold" pitchFamily="34" charset="-122"/>
                <a:cs typeface="Assistant Bold" pitchFamily="34" charset="-120"/>
              </a:rPr>
              <a:t>What they miss:</a:t>
            </a:r>
            <a:r>
              <a:rPr lang="en-US" sz="1800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 They rarely explain recurring patterns, preceding context, or intentionality.</a:t>
            </a:r>
            <a:endParaRPr lang="en-US" sz="1800" dirty="0"/>
          </a:p>
          <a:p>
            <a:pPr marL="345186" indent="-345186" algn="l">
              <a:lnSpc>
                <a:spcPct val="125000"/>
              </a:lnSpc>
              <a:buSzPct val="100000"/>
              <a:buChar char="•"/>
            </a:pPr>
            <a:r>
              <a:rPr lang="en-US" sz="1800" b="1" dirty="0">
                <a:solidFill>
                  <a:srgbClr val="FFFFFF"/>
                </a:solidFill>
                <a:latin typeface="Assistant Bold" pitchFamily="34" charset="0"/>
                <a:ea typeface="Assistant Bold" pitchFamily="34" charset="-122"/>
                <a:cs typeface="Assistant Bold" pitchFamily="34" charset="-120"/>
              </a:rPr>
              <a:t>What remains absent:</a:t>
            </a:r>
            <a:r>
              <a:rPr lang="en-US" sz="1800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 They do not suggest meaningful alternatives for unplanned usage.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04792" y="5996682"/>
            <a:ext cx="8355696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ssistant Bold" pitchFamily="34" charset="0"/>
                <a:ea typeface="Assistant Bold" pitchFamily="34" charset="-122"/>
                <a:cs typeface="Assistant Bold" pitchFamily="34" charset="-120"/>
              </a:rPr>
              <a:t>Traditional tracker:</a:t>
            </a:r>
            <a:r>
              <a:rPr lang="en-US" sz="1400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 Duration → </a:t>
            </a:r>
            <a:r>
              <a:rPr lang="en-US" sz="1400" b="1" dirty="0">
                <a:solidFill>
                  <a:srgbClr val="FFFFFF"/>
                </a:solidFill>
                <a:latin typeface="Assistant Bold" pitchFamily="34" charset="0"/>
                <a:ea typeface="Assistant Bold" pitchFamily="34" charset="-122"/>
                <a:cs typeface="Assistant Bold" pitchFamily="34" charset="-120"/>
              </a:rPr>
              <a:t>Habit Loop Mirror:</a:t>
            </a:r>
            <a:r>
              <a:rPr lang="en-US" sz="1400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 Pattern → Context → Reflection → Action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0535" y="0"/>
            <a:ext cx="4470090" cy="6858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9722" y="6448425"/>
            <a:ext cx="1310647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791"/>
            <a:ext cx="6451935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ssistant SemiBold" pitchFamily="34" charset="0"/>
                <a:ea typeface="Assistant SemiBold" pitchFamily="34" charset="-122"/>
                <a:cs typeface="Assistant SemiBold" pitchFamily="34" charset="-120"/>
              </a:rPr>
              <a:t>THE SHIFT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765572"/>
            <a:ext cx="6431695" cy="1036836"/>
          </a:xfrm>
          <a:prstGeom prst="rect">
            <a:avLst/>
          </a:prstGeom>
          <a:noFill/>
          <a:ln/>
        </p:spPr>
        <p:txBody>
          <a:bodyPr wrap="square" lIns="0" tIns="0" rIns="609585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3550" dirty="0">
                <a:solidFill>
                  <a:srgbClr val="FFFFFF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From screen-time metrics to behavioral awareness</a:t>
            </a:r>
            <a:endParaRPr lang="en-US" sz="3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269" y="236141"/>
            <a:ext cx="2571190" cy="3429000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4663281"/>
          <a:ext cx="10943157" cy="1614447"/>
        </p:xfrm>
        <a:graphic>
          <a:graphicData uri="http://schemas.openxmlformats.org/drawingml/2006/table">
            <a:tbl>
              <a:tblPr/>
              <a:tblGrid>
                <a:gridCol w="19697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45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45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642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73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FFFFFF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Understand</a:t>
                      </a:r>
                      <a:endParaRPr lang="en-US" sz="165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58111" marR="158111" marT="84326" marB="84326" anchor="ctr">
                    <a:lnL w="13176" cap="flat" cmpd="sng" algn="ctr">
                      <a:solidFill>
                        <a:srgbClr val="5D67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176" cap="flat" cmpd="sng" algn="ctr">
                      <a:solidFill>
                        <a:srgbClr val="5D67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176" cap="flat" cmpd="sng" algn="ctr">
                      <a:solidFill>
                        <a:srgbClr val="5D67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176" cap="flat" cmpd="sng" algn="ctr">
                      <a:solidFill>
                        <a:srgbClr val="5D67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FFFFFF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Reflect</a:t>
                      </a:r>
                      <a:endParaRPr lang="en-US" sz="165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58111" marR="158111" marT="84326" marB="84326" anchor="ctr">
                    <a:lnL w="13176" cap="flat" cmpd="sng" algn="ctr">
                      <a:solidFill>
                        <a:srgbClr val="5D67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176" cap="flat" cmpd="sng" algn="ctr">
                      <a:solidFill>
                        <a:srgbClr val="5D67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176" cap="flat" cmpd="sng" algn="ctr">
                      <a:solidFill>
                        <a:srgbClr val="5D67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176" cap="flat" cmpd="sng" algn="ctr">
                      <a:solidFill>
                        <a:srgbClr val="5D67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FFFFFF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Substitute</a:t>
                      </a:r>
                      <a:endParaRPr lang="en-US" sz="165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58111" marR="158111" marT="84326" marB="84326" anchor="ctr">
                    <a:lnL w="13176" cap="flat" cmpd="sng" algn="ctr">
                      <a:solidFill>
                        <a:srgbClr val="5D67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176" cap="flat" cmpd="sng" algn="ctr">
                      <a:solidFill>
                        <a:srgbClr val="5D67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176" cap="flat" cmpd="sng" algn="ctr">
                      <a:solidFill>
                        <a:srgbClr val="5D67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176" cap="flat" cmpd="sng" algn="ctr">
                      <a:solidFill>
                        <a:srgbClr val="5D67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FFFFFF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Improve</a:t>
                      </a:r>
                      <a:endParaRPr lang="en-US" sz="165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58111" marR="158111" marT="84326" marB="84326" anchor="ctr">
                    <a:lnL w="13176" cap="flat" cmpd="sng" algn="ctr">
                      <a:solidFill>
                        <a:srgbClr val="5D67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176" cap="flat" cmpd="sng" algn="ctr">
                      <a:solidFill>
                        <a:srgbClr val="5D67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176" cap="flat" cmpd="sng" algn="ctr">
                      <a:solidFill>
                        <a:srgbClr val="5D67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176" cap="flat" cmpd="sng" algn="ctr">
                      <a:solidFill>
                        <a:srgbClr val="5D67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70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FFFFFF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Detect recurring usage patterns.</a:t>
                      </a:r>
                      <a:endParaRPr lang="en-US" sz="165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58111" marR="158111" marT="84326" marB="84326" anchor="ctr">
                    <a:lnL w="13176" cap="flat" cmpd="sng" algn="ctr">
                      <a:solidFill>
                        <a:srgbClr val="5D67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176" cap="flat" cmpd="sng" algn="ctr">
                      <a:solidFill>
                        <a:srgbClr val="5D67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176" cap="flat" cmpd="sng" algn="ctr">
                      <a:solidFill>
                        <a:srgbClr val="5D67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176" cap="flat" cmpd="sng" algn="ctr">
                      <a:solidFill>
                        <a:srgbClr val="5D67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FFFFFF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Explain patterns using analytics and encourage non-judgmental reflection.</a:t>
                      </a:r>
                      <a:endParaRPr lang="en-US" sz="165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58111" marR="158111" marT="84326" marB="84326" anchor="ctr">
                    <a:lnL w="13176" cap="flat" cmpd="sng" algn="ctr">
                      <a:solidFill>
                        <a:srgbClr val="5D67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176" cap="flat" cmpd="sng" algn="ctr">
                      <a:solidFill>
                        <a:srgbClr val="5D67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176" cap="flat" cmpd="sng" algn="ctr">
                      <a:solidFill>
                        <a:srgbClr val="5D67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176" cap="flat" cmpd="sng" algn="ctr">
                      <a:solidFill>
                        <a:srgbClr val="5D67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FFFFFF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Suggest personalized alternatives.</a:t>
                      </a:r>
                      <a:endParaRPr lang="en-US" sz="165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58111" marR="158111" marT="84326" marB="84326" anchor="ctr">
                    <a:lnL w="13176" cap="flat" cmpd="sng" algn="ctr">
                      <a:solidFill>
                        <a:srgbClr val="5D67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176" cap="flat" cmpd="sng" algn="ctr">
                      <a:solidFill>
                        <a:srgbClr val="5D67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176" cap="flat" cmpd="sng" algn="ctr">
                      <a:solidFill>
                        <a:srgbClr val="5D67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176" cap="flat" cmpd="sng" algn="ctr">
                      <a:solidFill>
                        <a:srgbClr val="5D67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FFFFFF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Track multi-week habit evolution.</a:t>
                      </a:r>
                      <a:endParaRPr lang="en-US" sz="165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58111" marR="158111" marT="84326" marB="84326" anchor="ctr">
                    <a:lnL w="13176" cap="flat" cmpd="sng" algn="ctr">
                      <a:solidFill>
                        <a:srgbClr val="5D67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176" cap="flat" cmpd="sng" algn="ctr">
                      <a:solidFill>
                        <a:srgbClr val="5D67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176" cap="flat" cmpd="sng" algn="ctr">
                      <a:solidFill>
                        <a:srgbClr val="5D67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176" cap="flat" cmpd="sng" algn="ctr">
                      <a:solidFill>
                        <a:srgbClr val="5D677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42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11843347" y="6447631"/>
            <a:ext cx="34824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03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609585" y="2022277"/>
            <a:ext cx="5821316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Habit Loop Mirror transforms raw usage data into understandable patterns, evidence-based insights, reflection, and meaningful alternatives.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09585" y="2960886"/>
            <a:ext cx="5821316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ssistant Bold" pitchFamily="34" charset="0"/>
                <a:ea typeface="Assistant Bold" pitchFamily="34" charset="-122"/>
                <a:cs typeface="Assistant Bold" pitchFamily="34" charset="-120"/>
              </a:rPr>
              <a:t>Understand → Reflect → Substitute → Improve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0541" y="2451100"/>
            <a:ext cx="984027" cy="95885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2867" y="3688457"/>
            <a:ext cx="1218277" cy="775196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0541" y="3248521"/>
            <a:ext cx="889077" cy="1158081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09585" y="609501"/>
            <a:ext cx="414436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ssistant SemiBold" pitchFamily="34" charset="0"/>
                <a:ea typeface="Assistant SemiBold" pitchFamily="34" charset="-122"/>
                <a:cs typeface="Assistant SemiBold" pitchFamily="34" charset="-120"/>
              </a:rPr>
              <a:t>CORE MECHANISM</a:t>
            </a:r>
            <a:endParaRPr lang="en-US" sz="1200" dirty="0"/>
          </a:p>
        </p:txBody>
      </p:sp>
      <p:sp>
        <p:nvSpPr>
          <p:cNvPr id="6" name="Text 1"/>
          <p:cNvSpPr/>
          <p:nvPr/>
        </p:nvSpPr>
        <p:spPr>
          <a:xfrm>
            <a:off x="609585" y="802481"/>
            <a:ext cx="3534778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The 5-stage Behavioral Mirror Loop</a:t>
            </a:r>
            <a:endParaRPr lang="en-US" sz="4000" dirty="0"/>
          </a:p>
        </p:txBody>
      </p:sp>
      <p:sp>
        <p:nvSpPr>
          <p:cNvPr id="7" name="Text 2"/>
          <p:cNvSpPr/>
          <p:nvPr/>
        </p:nvSpPr>
        <p:spPr>
          <a:xfrm>
            <a:off x="609585" y="2871291"/>
            <a:ext cx="3534778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Use evidence and non-judgmental behavioral language throughout.</a:t>
            </a:r>
            <a:endParaRPr lang="en-US" sz="1700" dirty="0"/>
          </a:p>
        </p:txBody>
      </p:sp>
      <p:sp>
        <p:nvSpPr>
          <p:cNvPr id="8" name="Text 3"/>
          <p:cNvSpPr/>
          <p:nvPr/>
        </p:nvSpPr>
        <p:spPr>
          <a:xfrm>
            <a:off x="5668225" y="680641"/>
            <a:ext cx="1597977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7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Detect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5668225" y="1131391"/>
            <a:ext cx="1597977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Correlate notifications with session starts across multiple days.</a:t>
            </a:r>
            <a:endParaRPr lang="en-US" sz="1700" dirty="0"/>
          </a:p>
        </p:txBody>
      </p:sp>
      <p:sp>
        <p:nvSpPr>
          <p:cNvPr id="10" name="Text 5"/>
          <p:cNvSpPr/>
          <p:nvPr/>
        </p:nvSpPr>
        <p:spPr>
          <a:xfrm>
            <a:off x="5668225" y="3945731"/>
            <a:ext cx="1597977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7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Improve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5668225" y="4396482"/>
            <a:ext cx="1597977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Track multi-week evolution and verified reclaimed time.</a:t>
            </a:r>
            <a:endParaRPr lang="en-US" sz="17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9427" y="2746970"/>
            <a:ext cx="323346" cy="323354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3380" y="3585071"/>
            <a:ext cx="323346" cy="323354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65836" y="3983930"/>
            <a:ext cx="322254" cy="322263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9983935" y="487660"/>
            <a:ext cx="1597283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Explain</a:t>
            </a:r>
            <a:endParaRPr lang="en-US" sz="1800" dirty="0"/>
          </a:p>
        </p:txBody>
      </p:sp>
      <p:sp>
        <p:nvSpPr>
          <p:cNvPr id="16" name="Text 8"/>
          <p:cNvSpPr/>
          <p:nvPr/>
        </p:nvSpPr>
        <p:spPr>
          <a:xfrm>
            <a:off x="9983935" y="938411"/>
            <a:ext cx="1597283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Trigger → Action → Latency → Duration.</a:t>
            </a:r>
            <a:endParaRPr lang="en-US" sz="1700" dirty="0"/>
          </a:p>
        </p:txBody>
      </p:sp>
      <p:sp>
        <p:nvSpPr>
          <p:cNvPr id="17" name="Text 9"/>
          <p:cNvSpPr/>
          <p:nvPr/>
        </p:nvSpPr>
        <p:spPr>
          <a:xfrm>
            <a:off x="10091882" y="2232521"/>
            <a:ext cx="1489335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Reflect</a:t>
            </a:r>
            <a:endParaRPr lang="en-US" sz="1800" dirty="0"/>
          </a:p>
        </p:txBody>
      </p:sp>
      <p:sp>
        <p:nvSpPr>
          <p:cNvPr id="18" name="Text 10"/>
          <p:cNvSpPr/>
          <p:nvPr/>
        </p:nvSpPr>
        <p:spPr>
          <a:xfrm>
            <a:off x="10091882" y="2683272"/>
            <a:ext cx="1489335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Planned, Necessary, Relaxation, or Unplanned.</a:t>
            </a:r>
            <a:endParaRPr lang="en-US" sz="1700" dirty="0"/>
          </a:p>
        </p:txBody>
      </p:sp>
      <p:sp>
        <p:nvSpPr>
          <p:cNvPr id="19" name="Text 11"/>
          <p:cNvSpPr/>
          <p:nvPr/>
        </p:nvSpPr>
        <p:spPr>
          <a:xfrm>
            <a:off x="9983935" y="4301232"/>
            <a:ext cx="1597283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Substitute</a:t>
            </a:r>
            <a:endParaRPr lang="en-US" sz="1800" dirty="0"/>
          </a:p>
        </p:txBody>
      </p:sp>
      <p:sp>
        <p:nvSpPr>
          <p:cNvPr id="20" name="Text 12"/>
          <p:cNvSpPr/>
          <p:nvPr/>
        </p:nvSpPr>
        <p:spPr>
          <a:xfrm>
            <a:off x="9983935" y="4751983"/>
            <a:ext cx="1597283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Personal Swap Engine recommends 2-, 10-, or 20-minute activities.</a:t>
            </a:r>
            <a:endParaRPr lang="en-US" sz="1700" dirty="0"/>
          </a:p>
        </p:txBody>
      </p:sp>
      <p:sp>
        <p:nvSpPr>
          <p:cNvPr id="21" name="Text 13"/>
          <p:cNvSpPr/>
          <p:nvPr/>
        </p:nvSpPr>
        <p:spPr>
          <a:xfrm>
            <a:off x="11849101" y="6447730"/>
            <a:ext cx="34259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04</a:t>
            </a:r>
            <a:endParaRPr lang="en-US" sz="11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24642" y="2394148"/>
            <a:ext cx="1126402" cy="778371"/>
          </a:xfrm>
          <a:prstGeom prst="rect">
            <a:avLst/>
          </a:prstGeom>
        </p:spPr>
      </p:pic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02567" y="2627313"/>
            <a:ext cx="322949" cy="322957"/>
          </a:xfrm>
          <a:prstGeom prst="rect">
            <a:avLst/>
          </a:prstGeom>
        </p:spPr>
      </p:pic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70143" y="2837160"/>
            <a:ext cx="689751" cy="1186557"/>
          </a:xfrm>
          <a:prstGeom prst="rect">
            <a:avLst/>
          </a:prstGeom>
        </p:spPr>
      </p:pic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77207" y="3391892"/>
            <a:ext cx="322949" cy="32295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636911"/>
            <a:ext cx="414525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ssistant SemiBold" pitchFamily="34" charset="0"/>
                <a:ea typeface="Assistant SemiBold" pitchFamily="34" charset="-122"/>
                <a:cs typeface="Assistant SemiBold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1829891"/>
            <a:ext cx="3535671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System Architecture</a:t>
            </a:r>
            <a:endParaRPr lang="en-US" sz="4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3315791"/>
            <a:ext cx="3361745" cy="1904702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118" y="750491"/>
          <a:ext cx="5912992" cy="5355881"/>
        </p:xfrm>
        <a:graphic>
          <a:graphicData uri="http://schemas.openxmlformats.org/drawingml/2006/table">
            <a:tbl>
              <a:tblPr/>
              <a:tblGrid>
                <a:gridCol w="16868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61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90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Layer</a:t>
                      </a:r>
                      <a:endParaRPr lang="en-US" sz="17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61921" marR="161921" marT="118742" marB="118742" anchor="ctr">
                    <a:lnL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Technology</a:t>
                      </a:r>
                      <a:endParaRPr lang="en-US" sz="17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61921" marR="161921" marT="118742" marB="118742" anchor="ctr">
                    <a:lnL w="12700" cap="flat" cmpd="sng" algn="ctr">
                      <a:solidFill>
                        <a:srgbClr val="2A3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30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Frontend</a:t>
                      </a:r>
                      <a:endParaRPr lang="en-US" sz="17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61921" marR="161921" marT="151127" marB="151127" anchor="ctr">
                    <a:lnL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React 18, TypeScript, Vite, Tailwind CSS, React Router, Lucide React, Framer Motion</a:t>
                      </a:r>
                      <a:endParaRPr lang="en-US" sz="17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61921" marR="161921" marT="151127" marB="151127" anchor="ctr">
                    <a:lnL w="12700" cap="flat" cmpd="sng" algn="ctr">
                      <a:solidFill>
                        <a:srgbClr val="2A3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0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Authentication</a:t>
                      </a:r>
                      <a:endParaRPr lang="en-US" sz="17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61921" marR="161921" marT="118742" marB="118742" anchor="ctr">
                    <a:lnL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Supabase Auth + JWT</a:t>
                      </a:r>
                      <a:endParaRPr lang="en-US" sz="17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61921" marR="161921" marT="118742" marB="118742" anchor="ctr">
                    <a:lnL w="12700" cap="flat" cmpd="sng" algn="ctr">
                      <a:solidFill>
                        <a:srgbClr val="2A3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30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Backend</a:t>
                      </a:r>
                      <a:endParaRPr lang="en-US" sz="17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61921" marR="161921" marT="151127" marB="151127" anchor="ctr">
                    <a:lnL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Python 3.12+, FastAPI, Uvicorn, SQLAlchemy, Pydantic, Alembic</a:t>
                      </a:r>
                      <a:endParaRPr lang="en-US" sz="17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61921" marR="161921" marT="151127" marB="151127" anchor="ctr">
                    <a:lnL w="12700" cap="flat" cmpd="sng" algn="ctr">
                      <a:solidFill>
                        <a:srgbClr val="2A3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0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Analytics</a:t>
                      </a:r>
                      <a:endParaRPr lang="en-US" sz="17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61921" marR="161921" marT="118742" marB="118742" anchor="ctr">
                    <a:lnL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pandas, NumPy, scikit-learn</a:t>
                      </a:r>
                      <a:endParaRPr lang="en-US" sz="17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61921" marR="161921" marT="118742" marB="118742" anchor="ctr">
                    <a:lnL w="12700" cap="flat" cmpd="sng" algn="ctr">
                      <a:solidFill>
                        <a:srgbClr val="2A3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30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Intelligence</a:t>
                      </a:r>
                      <a:endParaRPr lang="en-US" sz="17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61921" marR="161921" marT="151127" marB="151127" anchor="ctr">
                    <a:lnL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Deterministic Personal Swap Engine + Kimi K3 / Moonshot AI Adapter</a:t>
                      </a:r>
                      <a:endParaRPr lang="en-US" sz="17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61921" marR="161921" marT="151127" marB="151127" anchor="ctr">
                    <a:lnL w="12700" cap="flat" cmpd="sng" algn="ctr">
                      <a:solidFill>
                        <a:srgbClr val="2A3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330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Data</a:t>
                      </a:r>
                      <a:endParaRPr lang="en-US" sz="17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61921" marR="161921" marT="151127" marB="151127" anchor="ctr">
                    <a:lnL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Supabase PostgreSQL; SQLite for local development</a:t>
                      </a:r>
                      <a:endParaRPr lang="en-US" sz="17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61921" marR="161921" marT="151127" marB="151127" anchor="ctr">
                    <a:lnL w="12700" cap="flat" cmpd="sng" algn="ctr">
                      <a:solidFill>
                        <a:srgbClr val="2A3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637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Deployment</a:t>
                      </a:r>
                      <a:endParaRPr lang="en-US" sz="17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61921" marR="161921" marT="118742" marB="118742" anchor="ctr">
                    <a:lnL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Vercel → frontend; Render → backend</a:t>
                      </a:r>
                      <a:endParaRPr lang="en-US" sz="17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61921" marR="161921" marT="118742" marB="118742" anchor="ctr">
                    <a:lnL w="12700" cap="flat" cmpd="sng" algn="ctr">
                      <a:solidFill>
                        <a:srgbClr val="2A3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842454" y="6447631"/>
            <a:ext cx="34924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ssistant SemiBold" pitchFamily="34" charset="0"/>
                <a:ea typeface="Assistant SemiBold" pitchFamily="34" charset="-122"/>
                <a:cs typeface="Assistant SemiBold" pitchFamily="34" charset="-120"/>
              </a:rPr>
              <a:t>INTELLIGENCE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01005"/>
            <a:ext cx="10915079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AI &amp; Machine Learning intelligence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09585" y="1701105"/>
            <a:ext cx="1158211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Python analytics generate the ground-truth evidence; AI explains that evidence.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09585" y="2218630"/>
            <a:ext cx="3454016" cy="3131641"/>
          </a:xfrm>
          <a:prstGeom prst="roundRect">
            <a:avLst>
              <a:gd name="adj" fmla="val 1241"/>
            </a:avLst>
          </a:prstGeom>
          <a:solidFill>
            <a:srgbClr val="E4EAEF"/>
          </a:solidFill>
          <a:ln w="25399">
            <a:solidFill>
              <a:srgbClr val="CDD0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63479" y="2472531"/>
            <a:ext cx="1413733" cy="336649"/>
          </a:xfrm>
          <a:prstGeom prst="roundRect">
            <a:avLst>
              <a:gd name="adj" fmla="val 9235"/>
            </a:avLst>
          </a:prstGeom>
          <a:solidFill>
            <a:srgbClr val="0740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92956" y="2537222"/>
            <a:ext cx="2316898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ssistant Bold" pitchFamily="34" charset="0"/>
                <a:ea typeface="Assistant Bold" pitchFamily="34" charset="-122"/>
                <a:cs typeface="Assistant Bold" pitchFamily="34" charset="-120"/>
              </a:rPr>
              <a:t>ANALYTICS / ML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3479" y="2894806"/>
            <a:ext cx="2888979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Evidence first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63479" y="3467795"/>
            <a:ext cx="2888979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Processes telemetry, detects multi-day clusters, calculates latency and duration, and generates evidence-based signals.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368492" y="2218630"/>
            <a:ext cx="3454016" cy="3131641"/>
          </a:xfrm>
          <a:prstGeom prst="roundRect">
            <a:avLst>
              <a:gd name="adj" fmla="val 1241"/>
            </a:avLst>
          </a:prstGeom>
          <a:solidFill>
            <a:srgbClr val="0E7C86"/>
          </a:solidFill>
          <a:ln w="25399">
            <a:solidFill>
              <a:srgbClr val="CDD0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22387" y="2472531"/>
            <a:ext cx="913187" cy="336649"/>
          </a:xfrm>
          <a:prstGeom prst="roundRect">
            <a:avLst>
              <a:gd name="adj" fmla="val 9235"/>
            </a:avLst>
          </a:prstGeom>
          <a:noFill/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751963" y="2537222"/>
            <a:ext cx="1816352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ssistant Bold" pitchFamily="34" charset="0"/>
                <a:ea typeface="Assistant Bold" pitchFamily="34" charset="-122"/>
                <a:cs typeface="Assistant Bold" pitchFamily="34" charset="-120"/>
              </a:rPr>
              <a:t>AI LAYER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22387" y="2894806"/>
            <a:ext cx="2888979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Meaning second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622387" y="3467795"/>
            <a:ext cx="2888979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Converts evidence into understandable insights, contextual explanations, reflection, and personalized guidance.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127499" y="2218630"/>
            <a:ext cx="3454016" cy="3131641"/>
          </a:xfrm>
          <a:prstGeom prst="roundRect">
            <a:avLst>
              <a:gd name="adj" fmla="val 1241"/>
            </a:avLst>
          </a:prstGeom>
          <a:solidFill>
            <a:srgbClr val="94681C"/>
          </a:solidFill>
          <a:ln w="25399">
            <a:solidFill>
              <a:srgbClr val="CDD0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8381393" y="2472531"/>
            <a:ext cx="1022721" cy="336649"/>
          </a:xfrm>
          <a:prstGeom prst="roundRect">
            <a:avLst>
              <a:gd name="adj" fmla="val 9235"/>
            </a:avLst>
          </a:prstGeom>
          <a:noFill/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510970" y="2537222"/>
            <a:ext cx="1925887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ssistant Bold" pitchFamily="34" charset="0"/>
                <a:ea typeface="Assistant Bold" pitchFamily="34" charset="-122"/>
                <a:cs typeface="Assistant Bold" pitchFamily="34" charset="-120"/>
              </a:rPr>
              <a:t>FALLBACK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81393" y="2894806"/>
            <a:ext cx="2888979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Continuity always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381393" y="3467795"/>
            <a:ext cx="2888979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Deterministic evidence templates keep the system functional when Kimi access is unavailable.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09585" y="5516662"/>
            <a:ext cx="11524962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ssistant Bold" pitchFamily="34" charset="0"/>
                <a:ea typeface="Assistant Bold" pitchFamily="34" charset="-122"/>
                <a:cs typeface="Assistant Bold" pitchFamily="34" charset="-120"/>
              </a:rPr>
              <a:t>Key features:  </a:t>
            </a:r>
            <a:r>
              <a:rPr lang="en-US" sz="1800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Habit Loop Detection  · Explainable Insights  · Session Reflection  · Personal Swap Engine</a:t>
            </a:r>
            <a:endParaRPr lang="en-US" sz="18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  · Digital Day Timeline  · Habit Evolution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842950" y="6448425"/>
            <a:ext cx="34874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15079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How Habit Loop Mirror works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09585" y="1409700"/>
            <a:ext cx="377816" cy="377825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93720" y="1490663"/>
            <a:ext cx="1371169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ssistant SemiBold" pitchFamily="34" charset="0"/>
                <a:ea typeface="Assistant SemiBold" pitchFamily="34" charset="-122"/>
                <a:cs typeface="Assistant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203295" y="1433513"/>
            <a:ext cx="544479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Start Habit Mirror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089299" y="1409700"/>
            <a:ext cx="12700" cy="606425"/>
          </a:xfrm>
          <a:prstGeom prst="rect">
            <a:avLst/>
          </a:prstGeom>
          <a:solidFill>
            <a:srgbClr val="A7B3B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324243" y="1409700"/>
            <a:ext cx="377816" cy="377825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3815" y="1490663"/>
            <a:ext cx="138049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ssistant SemiBold" pitchFamily="34" charset="0"/>
                <a:ea typeface="Assistant SemiBold" pitchFamily="34" charset="-122"/>
                <a:cs typeface="Assistant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917953" y="1433513"/>
            <a:ext cx="5216196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Sign up or enter Demo Mode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09585" y="2244725"/>
            <a:ext cx="377816" cy="377825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89057" y="2325688"/>
            <a:ext cx="138049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ssistant SemiBold" pitchFamily="34" charset="0"/>
                <a:ea typeface="Assistant SemiBold" pitchFamily="34" charset="-122"/>
                <a:cs typeface="Assistant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03295" y="2268538"/>
            <a:ext cx="544479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Complete personalization onboarding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324243" y="2244725"/>
            <a:ext cx="377816" cy="377825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03815" y="2325688"/>
            <a:ext cx="138049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ssistant SemiBold" pitchFamily="34" charset="0"/>
                <a:ea typeface="Assistant SemiBold" pitchFamily="34" charset="-122"/>
                <a:cs typeface="Assistant SemiBold" pitchFamily="34" charset="-120"/>
              </a:rPr>
              <a:t>04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917953" y="2268538"/>
            <a:ext cx="5216196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Import usage CSV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09585" y="3079750"/>
            <a:ext cx="377816" cy="377825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89057" y="3160713"/>
            <a:ext cx="138049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ssistant SemiBold" pitchFamily="34" charset="0"/>
                <a:ea typeface="Assistant SemiBold" pitchFamily="34" charset="-122"/>
                <a:cs typeface="Assistant SemiBold" pitchFamily="34" charset="-120"/>
              </a:rPr>
              <a:t>05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203295" y="3103563"/>
            <a:ext cx="544479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Analyze usage data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324243" y="3079750"/>
            <a:ext cx="377816" cy="377825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403815" y="3160713"/>
            <a:ext cx="138049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ssistant SemiBold" pitchFamily="34" charset="0"/>
                <a:ea typeface="Assistant SemiBold" pitchFamily="34" charset="-122"/>
                <a:cs typeface="Assistant SemiBold" pitchFamily="34" charset="-120"/>
              </a:rPr>
              <a:t>06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917953" y="3103563"/>
            <a:ext cx="5216196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Detect a recurring habit loop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09585" y="3914775"/>
            <a:ext cx="377816" cy="377825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89057" y="3995638"/>
            <a:ext cx="138049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ssistant SemiBold" pitchFamily="34" charset="0"/>
                <a:ea typeface="Assistant SemiBold" pitchFamily="34" charset="-122"/>
                <a:cs typeface="Assistant SemiBold" pitchFamily="34" charset="-120"/>
              </a:rPr>
              <a:t>07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203295" y="3938588"/>
            <a:ext cx="544479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View the explainable AI insight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6324243" y="3914775"/>
            <a:ext cx="377816" cy="377825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403815" y="3995638"/>
            <a:ext cx="138049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ssistant SemiBold" pitchFamily="34" charset="0"/>
                <a:ea typeface="Assistant SemiBold" pitchFamily="34" charset="-122"/>
                <a:cs typeface="Assistant SemiBold" pitchFamily="34" charset="-120"/>
              </a:rPr>
              <a:t>08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917953" y="3938588"/>
            <a:ext cx="5216196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Reflect on session intentionality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609585" y="4749800"/>
            <a:ext cx="377816" cy="377825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89057" y="4830663"/>
            <a:ext cx="138049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ssistant SemiBold" pitchFamily="34" charset="0"/>
                <a:ea typeface="Assistant SemiBold" pitchFamily="34" charset="-122"/>
                <a:cs typeface="Assistant SemiBold" pitchFamily="34" charset="-120"/>
              </a:rPr>
              <a:t>09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1203295" y="4773613"/>
            <a:ext cx="544479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Select a personalized alternative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6324243" y="4749800"/>
            <a:ext cx="377816" cy="377825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408478" y="4830663"/>
            <a:ext cx="1371169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ssistant SemiBold" pitchFamily="34" charset="0"/>
                <a:ea typeface="Assistant SemiBold" pitchFamily="34" charset="-122"/>
                <a:cs typeface="Assistant SemiBold" pitchFamily="34" charset="-120"/>
              </a:rPr>
              <a:t>10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6917953" y="4773613"/>
            <a:ext cx="5216196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Track habit improvement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609585" y="5296892"/>
            <a:ext cx="10915079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ssistant Bold" pitchFamily="34" charset="0"/>
                <a:ea typeface="Assistant Bold" pitchFamily="34" charset="-122"/>
                <a:cs typeface="Assistant Bold" pitchFamily="34" charset="-120"/>
              </a:rPr>
              <a:t>Example flow:</a:t>
            </a:r>
            <a:r>
              <a:rPr lang="en-US" sz="1600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 Raw Usage Data → Recurring Evening Pattern → Evidence-Based Detection → AI Explanation → Reflection → Personal Swap → Long-Term Improvement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09585" y="2009775"/>
            <a:ext cx="5486064" cy="12700"/>
          </a:xfrm>
          <a:prstGeom prst="rect">
            <a:avLst/>
          </a:prstGeom>
          <a:solidFill>
            <a:srgbClr val="A7B3B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6089299" y="2016125"/>
            <a:ext cx="12700" cy="835025"/>
          </a:xfrm>
          <a:prstGeom prst="rect">
            <a:avLst/>
          </a:prstGeom>
          <a:solidFill>
            <a:srgbClr val="A7B3B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6095649" y="2009775"/>
            <a:ext cx="5486064" cy="12700"/>
          </a:xfrm>
          <a:prstGeom prst="rect">
            <a:avLst/>
          </a:prstGeom>
          <a:solidFill>
            <a:srgbClr val="A7B3B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609585" y="2844800"/>
            <a:ext cx="5486064" cy="12700"/>
          </a:xfrm>
          <a:prstGeom prst="rect">
            <a:avLst/>
          </a:prstGeom>
          <a:solidFill>
            <a:srgbClr val="A7B3B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6089299" y="2851150"/>
            <a:ext cx="12700" cy="835025"/>
          </a:xfrm>
          <a:prstGeom prst="rect">
            <a:avLst/>
          </a:prstGeom>
          <a:solidFill>
            <a:srgbClr val="A7B3B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6095649" y="2844800"/>
            <a:ext cx="5486064" cy="12700"/>
          </a:xfrm>
          <a:prstGeom prst="rect">
            <a:avLst/>
          </a:prstGeom>
          <a:solidFill>
            <a:srgbClr val="A7B3B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609585" y="3679825"/>
            <a:ext cx="5486064" cy="12700"/>
          </a:xfrm>
          <a:prstGeom prst="rect">
            <a:avLst/>
          </a:prstGeom>
          <a:solidFill>
            <a:srgbClr val="A7B3B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6089299" y="3686175"/>
            <a:ext cx="12700" cy="835025"/>
          </a:xfrm>
          <a:prstGeom prst="rect">
            <a:avLst/>
          </a:prstGeom>
          <a:solidFill>
            <a:srgbClr val="A7B3B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6095649" y="3679825"/>
            <a:ext cx="5486064" cy="12700"/>
          </a:xfrm>
          <a:prstGeom prst="rect">
            <a:avLst/>
          </a:prstGeom>
          <a:solidFill>
            <a:srgbClr val="A7B3B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609585" y="4514850"/>
            <a:ext cx="5486064" cy="12700"/>
          </a:xfrm>
          <a:prstGeom prst="rect">
            <a:avLst/>
          </a:prstGeom>
          <a:solidFill>
            <a:srgbClr val="A7B3B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6089299" y="4521200"/>
            <a:ext cx="12700" cy="606425"/>
          </a:xfrm>
          <a:prstGeom prst="rect">
            <a:avLst/>
          </a:prstGeom>
          <a:solidFill>
            <a:srgbClr val="A7B3B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6095649" y="4514850"/>
            <a:ext cx="5486064" cy="12700"/>
          </a:xfrm>
          <a:prstGeom prst="rect">
            <a:avLst/>
          </a:prstGeom>
          <a:solidFill>
            <a:srgbClr val="A7B3B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11842950" y="6448425"/>
            <a:ext cx="34874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838200"/>
            <a:ext cx="7664060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ssistant SemiBold" pitchFamily="34" charset="0"/>
                <a:ea typeface="Assistant SemiBold" pitchFamily="34" charset="-122"/>
                <a:cs typeface="Assistant SemiBold" pitchFamily="34" charset="-120"/>
              </a:rPr>
              <a:t>RESPONSIBLE AI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1320677"/>
            <a:ext cx="7054475" cy="10368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3550" dirty="0">
                <a:solidFill>
                  <a:srgbClr val="FFFFFF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Responsible AI: awareness, not judgment</a:t>
            </a:r>
            <a:endParaRPr lang="en-US" sz="3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5902" y="609600"/>
            <a:ext cx="3555713" cy="201493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9585" y="2775248"/>
            <a:ext cx="3504914" cy="1436489"/>
          </a:xfrm>
          <a:prstGeom prst="roundRect">
            <a:avLst>
              <a:gd name="adj" fmla="val 2387"/>
            </a:avLst>
          </a:prstGeom>
          <a:noFill/>
          <a:ln w="19050">
            <a:solidFill>
              <a:srgbClr val="CDD0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857229" y="3022898"/>
            <a:ext cx="3562062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Awareness, not diagnosis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57229" y="3405485"/>
            <a:ext cx="2952478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Not a medical treatment or clinical diagnostic platform.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4419291" y="2775248"/>
            <a:ext cx="3352518" cy="1436489"/>
          </a:xfrm>
          <a:prstGeom prst="roundRect">
            <a:avLst>
              <a:gd name="adj" fmla="val 2387"/>
            </a:avLst>
          </a:prstGeom>
          <a:noFill/>
          <a:ln w="19050">
            <a:solidFill>
              <a:srgbClr val="CDD0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4666935" y="3022898"/>
            <a:ext cx="3409666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Non-judgmental language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666935" y="3405485"/>
            <a:ext cx="2800082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Avoid “addicted” labels and unsupported causal claims.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8076700" y="2775248"/>
            <a:ext cx="3504914" cy="1436489"/>
          </a:xfrm>
          <a:prstGeom prst="roundRect">
            <a:avLst>
              <a:gd name="adj" fmla="val 2387"/>
            </a:avLst>
          </a:prstGeom>
          <a:noFill/>
          <a:ln w="19050">
            <a:solidFill>
              <a:srgbClr val="CDD0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8324344" y="3022898"/>
            <a:ext cx="3562062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Evidence-based AI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324344" y="3405485"/>
            <a:ext cx="2952478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Python analytics precede AI interpretation.</a:t>
            </a: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609585" y="4516537"/>
            <a:ext cx="3504914" cy="1436489"/>
          </a:xfrm>
          <a:prstGeom prst="roundRect">
            <a:avLst>
              <a:gd name="adj" fmla="val 2387"/>
            </a:avLst>
          </a:prstGeom>
          <a:noFill/>
          <a:ln w="19050">
            <a:solidFill>
              <a:srgbClr val="CDD0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857229" y="4764187"/>
            <a:ext cx="3562062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User control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57229" y="5146774"/>
            <a:ext cx="3009626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Users choose categories and preferred alternatives.</a:t>
            </a:r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4419291" y="4516537"/>
            <a:ext cx="3352518" cy="1436489"/>
          </a:xfrm>
          <a:prstGeom prst="roundRect">
            <a:avLst>
              <a:gd name="adj" fmla="val 2387"/>
            </a:avLst>
          </a:prstGeom>
          <a:noFill/>
          <a:ln w="19050">
            <a:solidFill>
              <a:srgbClr val="CDD0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4666935" y="4764187"/>
            <a:ext cx="3409666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Deterministic fallback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666935" y="5146774"/>
            <a:ext cx="2857230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Core functionality remains available without external AI.</a:t>
            </a:r>
            <a:endParaRPr lang="en-US" dirty="0"/>
          </a:p>
        </p:txBody>
      </p:sp>
      <p:sp>
        <p:nvSpPr>
          <p:cNvPr id="20" name="Shape 17"/>
          <p:cNvSpPr/>
          <p:nvPr/>
        </p:nvSpPr>
        <p:spPr>
          <a:xfrm>
            <a:off x="8076700" y="4516537"/>
            <a:ext cx="3504914" cy="1436489"/>
          </a:xfrm>
          <a:prstGeom prst="roundRect">
            <a:avLst>
              <a:gd name="adj" fmla="val 2387"/>
            </a:avLst>
          </a:prstGeom>
          <a:noFill/>
          <a:ln w="19050">
            <a:solidFill>
              <a:srgbClr val="CDD0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8273645" y="4629293"/>
            <a:ext cx="3562062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Self-regulation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273645" y="4964310"/>
            <a:ext cx="2952478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Support awareness, reflection, and user-controlled improvement.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609585" y="6103838"/>
            <a:ext cx="10972228" cy="744637"/>
          </a:xfrm>
          <a:prstGeom prst="roundRect">
            <a:avLst>
              <a:gd name="adj" fmla="val 4605"/>
            </a:avLst>
          </a:prstGeom>
          <a:solidFill>
            <a:srgbClr val="0C6B7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799882" y="6341666"/>
            <a:ext cx="11391813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Assistant Bold" pitchFamily="34" charset="0"/>
                <a:ea typeface="Assistant Bold" pitchFamily="34" charset="-122"/>
                <a:cs typeface="Assistant Bold" pitchFamily="34" charset="-120"/>
              </a:rPr>
              <a:t>Avoid:</a:t>
            </a:r>
            <a:r>
              <a:rPr lang="en-US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 “Notification caused the user to open the app.” </a:t>
            </a:r>
            <a:r>
              <a:rPr lang="en-US" b="1" dirty="0">
                <a:solidFill>
                  <a:srgbClr val="FFFFFF"/>
                </a:solidFill>
                <a:latin typeface="Assistant Bold" pitchFamily="34" charset="0"/>
                <a:ea typeface="Assistant Bold" pitchFamily="34" charset="-122"/>
                <a:cs typeface="Assistant Bold" pitchFamily="34" charset="-120"/>
              </a:rPr>
              <a:t>Use:</a:t>
            </a:r>
            <a:r>
              <a:rPr lang="en-US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 “Session followed notification.”</a:t>
            </a: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11842950" y="6448425"/>
            <a:ext cx="34874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659222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ssistant SemiBold" pitchFamily="34" charset="0"/>
                <a:ea typeface="Assistant SemiBold" pitchFamily="34" charset="-122"/>
                <a:cs typeface="Assistant SemiBold" pitchFamily="34" charset="-120"/>
              </a:rPr>
              <a:t>SDG 3 · GOOD HEALTH AND WELL-BEING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827922"/>
            <a:ext cx="5373057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SDG 3: digital well-being is part of well-being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81010" y="2424528"/>
            <a:ext cx="5430206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Habit Loop Mirror promotes digital well-being by helping users understand screen-time patterns and recurring digital habits, encouraging self-awareness, self-regulation, healthier routines, and meaningful alternatives to unplanned usage.</a:t>
            </a:r>
            <a:endParaRPr lang="en-US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4390070"/>
            <a:ext cx="3361546" cy="190480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106464" y="-15081"/>
            <a:ext cx="5084933" cy="6873081"/>
          </a:xfrm>
          <a:prstGeom prst="rect">
            <a:avLst/>
          </a:prstGeom>
          <a:solidFill>
            <a:srgbClr val="E4EA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7524761" y="186927"/>
            <a:ext cx="4317892" cy="6261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4424" indent="-344424" algn="l">
              <a:lnSpc>
                <a:spcPct val="12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Assistant" pitchFamily="2" charset="-79"/>
                <a:ea typeface="Assistant" pitchFamily="34" charset="-122"/>
                <a:cs typeface="Assistant" pitchFamily="2" charset="-79"/>
              </a:rPr>
              <a:t>Increased digital self-awareness</a:t>
            </a:r>
            <a:endParaRPr lang="en-US" sz="2400" dirty="0">
              <a:latin typeface="Assistant" pitchFamily="2" charset="-79"/>
              <a:cs typeface="Assistant" pitchFamily="2" charset="-79"/>
            </a:endParaRPr>
          </a:p>
          <a:p>
            <a:pPr marL="344424" indent="-344424" algn="l">
              <a:lnSpc>
                <a:spcPct val="12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Assistant" pitchFamily="2" charset="-79"/>
                <a:ea typeface="Assistant" pitchFamily="34" charset="-122"/>
                <a:cs typeface="Assistant" pitchFamily="2" charset="-79"/>
              </a:rPr>
              <a:t>Better understanding of recurring patterns</a:t>
            </a:r>
            <a:endParaRPr lang="en-US" sz="2400" dirty="0">
              <a:latin typeface="Assistant" pitchFamily="2" charset="-79"/>
              <a:cs typeface="Assistant" pitchFamily="2" charset="-79"/>
            </a:endParaRPr>
          </a:p>
          <a:p>
            <a:pPr marL="344424" indent="-344424" algn="l">
              <a:lnSpc>
                <a:spcPct val="12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Assistant" pitchFamily="2" charset="-79"/>
                <a:ea typeface="Assistant" pitchFamily="34" charset="-122"/>
                <a:cs typeface="Assistant" pitchFamily="2" charset="-79"/>
              </a:rPr>
              <a:t>Healthier digital routines</a:t>
            </a:r>
            <a:endParaRPr lang="en-US" sz="2400" dirty="0">
              <a:latin typeface="Assistant" pitchFamily="2" charset="-79"/>
              <a:cs typeface="Assistant" pitchFamily="2" charset="-79"/>
            </a:endParaRPr>
          </a:p>
          <a:p>
            <a:pPr marL="344424" indent="-344424" algn="l">
              <a:lnSpc>
                <a:spcPct val="12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Assistant" pitchFamily="2" charset="-79"/>
                <a:ea typeface="Assistant" pitchFamily="34" charset="-122"/>
                <a:cs typeface="Assistant" pitchFamily="2" charset="-79"/>
              </a:rPr>
              <a:t>Meaningful alternatives</a:t>
            </a:r>
            <a:endParaRPr lang="en-US" sz="2400" dirty="0">
              <a:latin typeface="Assistant" pitchFamily="2" charset="-79"/>
              <a:cs typeface="Assistant" pitchFamily="2" charset="-79"/>
            </a:endParaRPr>
          </a:p>
          <a:p>
            <a:pPr marL="344424" indent="-344424" algn="l">
              <a:lnSpc>
                <a:spcPct val="125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Assistant" pitchFamily="2" charset="-79"/>
                <a:ea typeface="Assistant" pitchFamily="34" charset="-122"/>
                <a:cs typeface="Assistant" pitchFamily="2" charset="-79"/>
              </a:rPr>
              <a:t>Long-term self-regulation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ssistant" pitchFamily="2" charset="-79"/>
                <a:cs typeface="Assistant" pitchFamily="2" charset="-79"/>
              </a:rPr>
              <a:t>Enhanced digital self-awareness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ssistant" pitchFamily="2" charset="-79"/>
                <a:cs typeface="Assistant" pitchFamily="2" charset="-79"/>
              </a:rPr>
              <a:t>Improved behavioral understanding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ssistant" pitchFamily="2" charset="-79"/>
                <a:cs typeface="Assistant" pitchFamily="2" charset="-79"/>
              </a:rPr>
              <a:t>Healthier and more intentional digital habits</a:t>
            </a:r>
          </a:p>
          <a:p>
            <a:pPr marL="344424" indent="-344424" algn="l">
              <a:lnSpc>
                <a:spcPct val="125000"/>
              </a:lnSpc>
              <a:buSzPct val="100000"/>
              <a:buChar char="•"/>
            </a:pP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1842950" y="6448425"/>
            <a:ext cx="34874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4475447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ssistant SemiBold" pitchFamily="34" charset="0"/>
                <a:ea typeface="Assistant SemiBold" pitchFamily="34" charset="-122"/>
                <a:cs typeface="Assistant SemiBold" pitchFamily="34" charset="-120"/>
              </a:rPr>
              <a:t>READINESS &amp; NEXT HORIZON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4" y="960140"/>
            <a:ext cx="4475447" cy="1752600"/>
          </a:xfrm>
          <a:prstGeom prst="rect">
            <a:avLst/>
          </a:prstGeom>
          <a:noFill/>
          <a:ln/>
        </p:spPr>
        <p:txBody>
          <a:bodyPr wrap="square" lIns="0" tIns="0" rIns="609585" bIns="0" rtlCol="0" anchor="t">
            <a:normAutofit lnSpcReduction="10000"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Rubik SemiBold" pitchFamily="34" charset="0"/>
                <a:ea typeface="Rubik SemiBold" pitchFamily="34" charset="-122"/>
                <a:cs typeface="Rubik SemiBold" pitchFamily="34" charset="-120"/>
              </a:rPr>
              <a:t>Validation, deployment &amp; future scope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09585" y="2871391"/>
            <a:ext cx="3865863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From measuring screen time to understanding digital behavior.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09585" y="5258991"/>
            <a:ext cx="4475447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ssistant Bold" pitchFamily="34" charset="0"/>
                <a:ea typeface="Assistant Bold" pitchFamily="34" charset="-122"/>
                <a:cs typeface="Assistant Bold" pitchFamily="34" charset="-120"/>
              </a:rPr>
              <a:t>THANK YOU 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09585" y="5783362"/>
            <a:ext cx="3865863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AICTE | IBM SkillsBuild · Machine Learning and Applied AI Internship 2026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51706" y="609600"/>
          <a:ext cx="5405005" cy="4429113"/>
        </p:xfrm>
        <a:graphic>
          <a:graphicData uri="http://schemas.openxmlformats.org/drawingml/2006/table">
            <a:tbl>
              <a:tblPr/>
              <a:tblGrid>
                <a:gridCol w="1443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18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806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Testing</a:t>
                      </a:r>
                      <a:endParaRPr lang="en-US" sz="17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61921" marR="161921" marT="215767" marB="215767" anchor="ctr">
                    <a:lnL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Pytest backend tests · frontend production build and type checking · API health checks · deterministic demo dataset</a:t>
                      </a:r>
                      <a:endParaRPr lang="en-US" sz="17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61921" marR="161921" marT="215767" marB="215767" anchor="ctr">
                    <a:lnL w="12700" cap="flat" cmpd="sng" algn="ctr">
                      <a:solidFill>
                        <a:srgbClr val="2A3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567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Deployment</a:t>
                      </a:r>
                      <a:endParaRPr lang="en-US" sz="17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61921" marR="161921" marT="183511" marB="183511" anchor="ctr">
                    <a:lnL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Vercel frontend · Render backend · Supabase PostgreSQL · Supabase Auth · Moonshot AI / Kimi</a:t>
                      </a:r>
                      <a:endParaRPr lang="en-US" sz="17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61921" marR="161921" marT="183511" marB="183511" anchor="ctr">
                    <a:lnL w="12700" cap="flat" cmpd="sng" algn="ctr">
                      <a:solidFill>
                        <a:srgbClr val="2A3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174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Future scope</a:t>
                      </a:r>
                      <a:endParaRPr lang="en-US" sz="17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61921" marR="161921" marT="248151" marB="248151" anchor="ctr">
                    <a:lnL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Assistant" pitchFamily="34" charset="0"/>
                          <a:ea typeface="Assistant" pitchFamily="34" charset="-122"/>
                          <a:cs typeface="Assistant" pitchFamily="34" charset="-120"/>
                        </a:rPr>
                        <a:t>real-time mobile telemetry · advanced pattern models · learned recommendations · real-time detection · privacy-preserving on-device analytics · expanded cross-platform support</a:t>
                      </a:r>
                      <a:endParaRPr lang="en-US" sz="17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61921" marR="161921" marT="248151" marB="248151" anchor="ctr">
                    <a:lnL w="12700" cap="flat" cmpd="sng" algn="ctr">
                      <a:solidFill>
                        <a:srgbClr val="2A37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7B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1848704" y="6449020"/>
            <a:ext cx="342891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kern="100" spc="44" dirty="0">
                <a:solidFill>
                  <a:srgbClr val="536270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818</Words>
  <Application>Microsoft Office PowerPoint</Application>
  <PresentationFormat>Widescreen</PresentationFormat>
  <Paragraphs>152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Rubik ExtraBold</vt:lpstr>
      <vt:lpstr>Assistant</vt:lpstr>
      <vt:lpstr>Rubik SemiBold</vt:lpstr>
      <vt:lpstr>Assistant Bold</vt:lpstr>
      <vt:lpstr>Arial</vt:lpstr>
      <vt:lpstr>Assistant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ramana 😊</dc:creator>
  <cp:lastModifiedBy>ramana 😊</cp:lastModifiedBy>
  <cp:revision>3</cp:revision>
  <dcterms:created xsi:type="dcterms:W3CDTF">2026-10-06T07:38:21Z</dcterms:created>
  <dcterms:modified xsi:type="dcterms:W3CDTF">2026-10-06T07:50:07Z</dcterms:modified>
</cp:coreProperties>
</file>